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Corben" panose="020B0604020202020204" charset="0"/>
      <p:regular r:id="rId30"/>
    </p:embeddedFont>
    <p:embeddedFont>
      <p:font typeface="Nobile" panose="020B0604020202020204" charset="0"/>
      <p:regular r:id="rId31"/>
    </p:embeddedFont>
    <p:embeddedFont>
      <p:font typeface="Nobile Bold" panose="020B06040202020202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F86382-8E3C-5D23-E788-05EC0CE63877}" v="70" dt="2026-09-05T15:26:03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74EE-5C2C-471C-B30F-EE6F7B1B9F6E}" type="datetimeFigureOut">
              <a:t>05/09/2026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125CB-9C4D-47F5-B595-E5276F9E7FE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36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5440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639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RAG Beyond the Demo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93801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How we turned a promising retrieval-augmented generation prototype into a insurance claims adjudication system — with the evaluation, guardrails, and operational patterns that actually made it work.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83095-F0E6-EC57-CDE8-FCEDAB6CEA13}"/>
              </a:ext>
            </a:extLst>
          </p:cNvPr>
          <p:cNvSpPr/>
          <p:nvPr/>
        </p:nvSpPr>
        <p:spPr>
          <a:xfrm>
            <a:off x="11018108" y="6487297"/>
            <a:ext cx="1112108" cy="329513"/>
          </a:xfrm>
          <a:prstGeom prst="rect">
            <a:avLst/>
          </a:prstGeom>
          <a:solidFill>
            <a:srgbClr val="F8F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6613"/>
            <a:ext cx="86605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93266"/>
            <a:ext cx="1248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993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Agenda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2073473"/>
            <a:ext cx="10520595" cy="3947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6045" y="49101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Evaluation &amp; Lessons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36215" y="49101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&amp; Access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347253" y="49101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Real-World RAG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358291" y="4757307"/>
            <a:ext cx="1586822" cy="917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Inside Domain Copilot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54" y="49101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RAG Foundations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FCC701-20A5-1885-ED86-2D338BDD52FC}"/>
              </a:ext>
            </a:extLst>
          </p:cNvPr>
          <p:cNvSpPr/>
          <p:nvPr/>
        </p:nvSpPr>
        <p:spPr>
          <a:xfrm>
            <a:off x="10956325" y="6528486"/>
            <a:ext cx="1163594" cy="329513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Case Study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18606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Domain Copilot: RAG in Insurance Claims Adjudication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194200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Today, we’ll explore how Retrieval-Augmented Generation (RAG) operates within a real-world insurance claims adjudication system.We’ll meticulously follow the journey from: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75947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Document Ingestion &amp; Retrieval · Grounded Answers · Failures &amp; Debugging · Security &amp; Guardrails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27451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Instead of just theoretical discussions, we will dive into the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real bugs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 encountered and the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real fixes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 implemented to ensure system reliability and accuracy.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820EB-8672-873D-4DE3-54E5CA7737AF}"/>
              </a:ext>
            </a:extLst>
          </p:cNvPr>
          <p:cNvSpPr/>
          <p:nvPr/>
        </p:nvSpPr>
        <p:spPr>
          <a:xfrm>
            <a:off x="10946027" y="6559378"/>
            <a:ext cx="1194486" cy="267729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RAG Actually Is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34182"/>
            <a:ext cx="10868745" cy="1224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Retrieval-Augmented Generation means: first retrieve the most relevant text, then generate an answer constrained by that text. The LLM does not "know" your documents in advance — you surface the right context at query time. There are no weight changes and no fine-tuning required.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insight: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RAG is really about </a:t>
            </a: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separation of concerns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The retriever is responsible for finding useful context; the LLM is responsible for reasoning over it. That division is powerful, but it also means production RAG can fail in many places: retrieval quality, chunking, ranking, context limits, and generation all matter.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54" y="2594670"/>
            <a:ext cx="6761688" cy="3094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92382" y="4954424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Return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92543" y="4954424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Generate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1399" y="4954424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Retrieve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75476" y="4954424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Query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5825331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retriever acts like a librarian, finding the right pages. The LLM acts like a subject-matter expert, reading those pages and answering the question in context.</a:t>
            </a: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ADC5F2-9A36-B3DF-8794-1ABE2E2983D4}"/>
              </a:ext>
            </a:extLst>
          </p:cNvPr>
          <p:cNvSpPr/>
          <p:nvPr/>
        </p:nvSpPr>
        <p:spPr>
          <a:xfrm>
            <a:off x="10987216" y="6569675"/>
            <a:ext cx="1163594" cy="247135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1980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the Basic RAG Isn't Enough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226641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demo retrieves </a:t>
            </a:r>
            <a:r>
              <a:rPr lang="en-US" sz="12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something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relevant once, on a clean query. Production is a different discipline entirely.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55688"/>
            <a:ext cx="6296860" cy="9299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203537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Document drift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2368252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Wrong policy versions, superseded clauses, conflicting endorsements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2191"/>
            <a:ext cx="6296860" cy="9299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7354" y="3101876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Adversarial queries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7354" y="3434755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who phrase questions to bypass grounding constraints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88693"/>
            <a:ext cx="6296860" cy="1167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354" y="416837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Partial evidence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7354" y="4501257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the corpus genuinely lacks an answer, "I don't know" is the correct response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92923"/>
            <a:ext cx="6296860" cy="92997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7354" y="547260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Concurrent load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17354" y="5805488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users, streaming outputs, shared vector stores under real traffic</a:t>
            </a:r>
            <a:endParaRPr lang="en-US" sz="12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5B95B7-EAE0-6F4E-705D-4633D446F602}"/>
              </a:ext>
            </a:extLst>
          </p:cNvPr>
          <p:cNvSpPr/>
          <p:nvPr/>
        </p:nvSpPr>
        <p:spPr>
          <a:xfrm>
            <a:off x="11090188" y="6415215"/>
            <a:ext cx="1019430" cy="370701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RAG vs. LLM-Only Generation</a:t>
            </a:r>
            <a:endParaRPr lang="en-US" sz="3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28763"/>
          <a:ext cx="5215303" cy="3912694"/>
        </p:xfrm>
        <a:graphic>
          <a:graphicData uri="http://schemas.openxmlformats.org/drawingml/2006/table">
            <a:tbl>
              <a:tblPr/>
              <a:tblGrid>
                <a:gridCol w="1564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Dimension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LLM-Only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RAG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Grounding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None — trained knowledge only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Retrieved document text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Confidence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High, even when wrong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Constrained by evidence quality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Policy limits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May confidently state wrong figures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Cited from actual clauses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Payout math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LLM calculates (risky)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Deterministic Python only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21267" y="1507430"/>
            <a:ext cx="521530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Key Architectural Decision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321267" y="2014637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Use the LLM for reasoning over evidence — not for deterministic business logic.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90540" y="2920206"/>
            <a:ext cx="4946030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calculate_payout()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performs the actual payout calculation in Python, independently of the LLM.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1267" y="2766715"/>
            <a:ext cx="25399" cy="886222"/>
          </a:xfrm>
          <a:prstGeom prst="roundRect">
            <a:avLst>
              <a:gd name="adj" fmla="val 50001"/>
            </a:avLst>
          </a:prstGeom>
          <a:solidFill>
            <a:srgbClr val="4967E9"/>
          </a:solidFill>
          <a:ln/>
        </p:spPr>
      </p:sp>
      <p:sp>
        <p:nvSpPr>
          <p:cNvPr id="3" name="Text 5"/>
          <p:cNvSpPr/>
          <p:nvPr/>
        </p:nvSpPr>
        <p:spPr>
          <a:xfrm>
            <a:off x="6321267" y="3844826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RAG grounds the decision. Deterministic code controls the numbers.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23B14E-7304-6103-50B3-BBEB93F11EB6}"/>
              </a:ext>
            </a:extLst>
          </p:cNvPr>
          <p:cNvSpPr/>
          <p:nvPr/>
        </p:nvSpPr>
        <p:spPr>
          <a:xfrm>
            <a:off x="10987215" y="6538783"/>
            <a:ext cx="1122405" cy="257432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Chunking: Why It Matters Here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81585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heading_match = HEADING_RE.match(line)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heading_match: current_section_num = heading_match.group(1) current_section_title = ( f"{current_section_num}. {heading_match.group(2).strip()}" ) clause_counter = 0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158293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Numbered-heading chunking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32776" y="206722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Chunks are split by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numbered section heading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"1. Declarations", "5. Exclusions" — not by fixed token windows. Citations must map to a real policy clause, not an arbitrary text span.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46590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 bug discovered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950196"/>
            <a:ext cx="5203794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PDF line-wrap placed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"0026. Policy Period: from…"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at the start of a visual line. The regex matched it as a section heading, creating a spurious chunk boundary. Fixed by tightening the heading pattern to require a word boundary and a substantive title.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F8D1C-3795-020B-D6CA-D2AA5B7903BD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Embeddings: What They Actually Represent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vector encoding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semantic similarity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not understanding, not fact-checking. Two embedding models are deliberately decoupled from the completion model.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05943"/>
            <a:ext cx="10868745" cy="1423293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312293"/>
            <a:ext cx="5428023" cy="1410593"/>
          </a:xfrm>
          <a:custGeom>
            <a:avLst/>
            <a:gdLst/>
            <a:ahLst/>
            <a:cxnLst/>
            <a:rect l="l" t="t" r="r" b="b"/>
            <a:pathLst>
              <a:path w="5428023" h="1410593">
                <a:moveTo>
                  <a:pt x="66156" y="0"/>
                </a:moveTo>
                <a:lnTo>
                  <a:pt x="5428023" y="0"/>
                </a:lnTo>
                <a:lnTo>
                  <a:pt x="5428023" y="1410593"/>
                </a:lnTo>
                <a:lnTo>
                  <a:pt x="66156" y="141059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50130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OpenAI text-embedding-3-small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909987"/>
            <a:ext cx="5050009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1,536 dimensions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used when OpenAI is the active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EMBEDDING_PROVIDER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312293"/>
            <a:ext cx="5428023" cy="1410593"/>
          </a:xfrm>
          <a:custGeom>
            <a:avLst/>
            <a:gdLst/>
            <a:ahLst/>
            <a:cxnLst/>
            <a:rect l="l" t="t" r="r" b="b"/>
            <a:pathLst>
              <a:path w="5428023" h="1410593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344435"/>
                </a:lnTo>
                <a:arcTo wR="66156" hR="66158" stAng="0" swAng="5400000"/>
                <a:lnTo>
                  <a:pt x="0" y="1410593"/>
                </a:lnTo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312293"/>
            <a:ext cx="25399" cy="1410593"/>
          </a:xfrm>
          <a:prstGeom prst="roundRect">
            <a:avLst>
              <a:gd name="adj" fmla="val 50001"/>
            </a:avLst>
          </a:prstGeom>
          <a:solidFill>
            <a:srgbClr val="B8BFDF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250130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Ollama nomic-embed-text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2909987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768 dimensions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local, self-hosted alternative with a different vector space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41862"/>
            <a:ext cx="10868745" cy="1077416"/>
          </a:xfrm>
          <a:prstGeom prst="roundRect">
            <a:avLst>
              <a:gd name="adj" fmla="val 7368"/>
            </a:avLst>
          </a:prstGeom>
          <a:solidFill>
            <a:srgbClr val="D2D9F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209554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178102"/>
            <a:ext cx="1006549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EMBEDDING_PROVIDER</a:t>
            </a: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450" dirty="0">
                <a:solidFill>
                  <a:srgbClr val="000000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LLM_PROVIDER</a:t>
            </a: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independent settings. Swapping one does not require changing the other — but dimension mismatches will break ingestion.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68A0DC-CD0D-BBCF-C49B-41228AAE3A07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19807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 Bug: Embedding Dimension Mismatch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812627"/>
            <a:ext cx="6296860" cy="813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DocumentChunk.embedding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was defined as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VectorField(dimensions=1536)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ingesting with Ollama active caused immediate insert failures — the vector length did not match the schema.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798663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7107" y="283051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9128" y="2857103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Root cause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769128" y="3214588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Hard-coded dimension assumed OpenAI; Ollama produces 768-dim vectors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4037905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7107" y="4069755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9128" y="4096345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fix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769128" y="4453830"/>
            <a:ext cx="5761092" cy="536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Unconstrained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column +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EMBEDDING_PROVIDER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its own explicit setting, with no fallback chain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529619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7107" y="532804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9128" y="5354638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principle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769128" y="5712123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Provider assumptions must never be implicit — every model choice is an architectural contract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A984CF-4DAD-76F3-99B8-1D83B7D4EC86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69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Hybrid Retrieval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545789" y="1417439"/>
            <a:ext cx="5469793" cy="4895652"/>
          </a:xfrm>
          <a:prstGeom prst="roundRect">
            <a:avLst>
              <a:gd name="adj" fmla="val 2363"/>
            </a:avLst>
          </a:prstGeom>
          <a:solidFill>
            <a:srgbClr val="FDFAF7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48" y="2853531"/>
            <a:ext cx="4370675" cy="23840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82463" y="1417439"/>
            <a:ext cx="5469793" cy="4895652"/>
          </a:xfrm>
          <a:prstGeom prst="roundRect">
            <a:avLst>
              <a:gd name="adj" fmla="val 2363"/>
            </a:avLst>
          </a:prstGeom>
          <a:solidFill>
            <a:srgbClr val="FDFAF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343094" y="1553964"/>
            <a:ext cx="5148531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Hybrid Retrieval</a:t>
            </a:r>
            <a:endParaRPr lang="en-US" sz="3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094" y="2209602"/>
            <a:ext cx="5148531" cy="12414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1289" y="2389287"/>
            <a:ext cx="417065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Dense Retrieval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141289" y="2776835"/>
            <a:ext cx="4170655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Utilises </a:t>
            </a:r>
            <a:r>
              <a:rPr lang="en-US" sz="1250" dirty="0">
                <a:solidFill>
                  <a:srgbClr val="40415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DenseRetriever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</a:t>
            </a:r>
            <a:r>
              <a:rPr lang="en-US" sz="1250" dirty="0">
                <a:solidFill>
                  <a:srgbClr val="40415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semantic search, measuring similarity via cosine distance.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094" y="3587552"/>
            <a:ext cx="5148531" cy="12604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1289" y="3767237"/>
            <a:ext cx="417065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Keyword Retrieval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141289" y="4154785"/>
            <a:ext cx="4170655" cy="513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Employs </a:t>
            </a:r>
            <a:r>
              <a:rPr lang="en-US" sz="1250" dirty="0">
                <a:solidFill>
                  <a:srgbClr val="40415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KeywordRetriever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leveraging Postgres full-text search (</a:t>
            </a:r>
            <a:r>
              <a:rPr lang="en-US" sz="1250" dirty="0">
                <a:solidFill>
                  <a:srgbClr val="40415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SearchRank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 for exact term matching.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343094" y="5001617"/>
            <a:ext cx="5148531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two retrieval methods are combined using </a:t>
            </a:r>
            <a:r>
              <a:rPr lang="en-US" sz="12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Reciprocal Rank Fusion (RRF)</a:t>
            </a: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Unlike a simple weighted average, RRF combines the strengths of both systems by assigning scores based on an item's rank in each list, resulting in a robust, fused list that prioritises highly ranked documents from either source.</a:t>
            </a:r>
            <a:endParaRPr lang="en-US" sz="12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E1EC8D-55CD-F60E-FF09-0BDAF9AED0B3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Metadata Filtering: The Policy-Version Problem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critical named domain risk was retrieving the wrong policy version for a claim's specific date of loss, leading to inaccurate information.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8569"/>
            <a:ext cx="5203794" cy="2927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47600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mitigate this: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48484"/>
            <a:ext cx="5203794" cy="1937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get_policy_version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tool is invoked to resolve the correct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PolicyVersion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based on the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claim_date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before any retrieval occurs.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Subsequent retrieval operations are strictly filtered to only search within the documents associated with that specific </a:t>
            </a: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policy_version_id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FBC9A1-B5F9-6E61-E6A7-BC48DEBE51E5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Boilerplate Ambiguity in Retrieval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57610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Identical or near-identical text across different policy types can lead to incorrect retrieval if not properly contextualized.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4151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Auto Policy - Exclusions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360315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policy excludes coverage for intentional acts, acts of war, nuclear risks, and damages caused by normal wear and tear.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659" y="194151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Cyber Policy - Exclusions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09659" y="2360315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policy excludes coverage for intentional acts, acts of war, nuclear risks, and damages caused by normal wear and tear.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18740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243" y="3245842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Challenge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97243" y="3603327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synthetic policy types shared near-identical "Exclusions" or "General Conditions" boilerplate.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16808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243" y="4226520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Symptom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97243" y="4584005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query about cyber liability limits incorrectly retrieved the auto policy's limits section.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5148759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243" y="5207198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Fix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97243" y="5564684"/>
            <a:ext cx="10332977" cy="555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Contextualize each chunk's embedded text by prepending its policy name and section, e.g.,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"{policy_name} — {section}: {content}"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while keeping the citation-facing content clean.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B01E2B-93EE-8131-EE67-C881C9B064E5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Structured Citations &amp; Grounding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73659"/>
            <a:ext cx="10868745" cy="141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piece of retrieved information isn't just a block of text; it's a structured object. Each result includes a detailed citation containing its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chunk_id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source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specific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policy_version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relevant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clause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number, and the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excerpt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itself.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single, consistent </a:t>
            </a:r>
            <a:r>
              <a:rPr lang="en-US" sz="11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format_citation()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function ensures uniformity across the system, presenting these details clearly to the user.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Crucially, </a:t>
            </a:r>
            <a:r>
              <a:rPr lang="en-US" sz="11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grounding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means the LLM's response is </a:t>
            </a:r>
            <a:r>
              <a:rPr lang="en-US" sz="11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constrained</a:t>
            </a: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by this retrieved text, not merely provided with it. The model must derive its answer directly from the supplied excerpts, preventing hallucination.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772668"/>
            <a:ext cx="1086874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Sample Citation JSON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61475" y="3237508"/>
            <a:ext cx="10868745" cy="2479477"/>
          </a:xfrm>
          <a:prstGeom prst="roundRect">
            <a:avLst>
              <a:gd name="adj" fmla="val 2561"/>
            </a:avLst>
          </a:prstGeom>
          <a:solidFill>
            <a:srgbClr val="ECECF2"/>
          </a:solidFill>
          <a:ln/>
        </p:spPr>
      </p:sp>
      <p:sp>
        <p:nvSpPr>
          <p:cNvPr id="6" name="Text 4"/>
          <p:cNvSpPr/>
          <p:nvPr/>
        </p:nvSpPr>
        <p:spPr>
          <a:xfrm>
            <a:off x="842842" y="3388717"/>
            <a:ext cx="10506011" cy="217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"chunk_id": "pol-xyz-v2.1-sec3.2.1-p42",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"document": "Commercial_Liability_Policy_v2.1.pdf",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"policy_version": "v2.1",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"section": "3.2.1",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"clause": "Exclusions: Intentional Acts",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"page": "42",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"excerpt": "This policy expressly excludes coverage for any loss or damage arising directly or indirectly from intentional acts..."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B94D8-092F-51C0-4960-DBD98D69442B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Refusal: The Hardest Real Problem in This Project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912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binding principle for our system was to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refuse rather than guess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low-evidence questions, ensuring accuracy over speculative answers.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9659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5723" y="296148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First Attempt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370163"/>
            <a:ext cx="470195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initially tried to gate refusal on the fused Reciprocal Rank Fusion (RRF) score of retrieved documents. This approach failed empirically during testing.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289659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8163" y="296148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it Failed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28163" y="3370163"/>
            <a:ext cx="470205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RRF reflects rank position only; an irrelevant query's nearest (still distant) match can rank #1 in both retrieval lists and score identically to a genuinely strong, relevant match, making it an unreliable signal for confidence.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1ED920-1A79-B84B-7D06-7627A62EE621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 Data: Why RRF-Gated Refusal Failed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18493"/>
            <a:ext cx="10868745" cy="65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initial refusal mechanism, gated on the fused Reciprocal Rank Fusion (RRF) score, proved unreliable in distinguishing genuinely relevant answers from irrelevant but highly-ranked noise.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example, the query </a:t>
            </a:r>
            <a:r>
              <a:rPr lang="en-US" sz="10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capital of France?"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often received a higher fused RRF score than several questions directly answerable by the policy documents.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79501"/>
            <a:ext cx="10868745" cy="42634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416342-FFBD-0081-041A-737C401D76D9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Failure Modes: A Taxonomy From Real Incidents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9490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this decision tree to diagnose a wrong answer quickly: first verify retrieval, then decide whether the fix belongs in retrieval or generation.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46" y="1686223"/>
            <a:ext cx="9089103" cy="4468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8778" y="2086928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Generation-fix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98778" y="2420672"/>
            <a:ext cx="4203441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ignored correct context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98778" y="3130886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Retrieval-fix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98778" y="3464629"/>
            <a:ext cx="4203441" cy="192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relevant doc, wrong doc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98778" y="4174844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Check Retrieval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98778" y="4508587"/>
            <a:ext cx="4203441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Inspect retrieved chunks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08016" y="5218801"/>
            <a:ext cx="2078625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Wrong Answer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08016" y="5552544"/>
            <a:ext cx="4203440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incorrect output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3C3DEB-0C40-5F2B-8FC9-E5E74249E317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Security: Retrieved Content Is Data, Never Instructions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57610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fundamental security principle in our RAG system is strict privilege separation. Retrieved content is always treated as inert data, never as executable instructions or system commands.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4698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7243" y="2105422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Privilege Separation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97243" y="2462907"/>
            <a:ext cx="2959621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Retrieved chunk text is never interpreted as system instructions, ensuring that malicious content cannot hijack the LLM's behaviour or underlying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8153" y="204698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3921" y="2105422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Adversarial Injection Cases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83921" y="2462907"/>
            <a:ext cx="29596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Evaluation includes a dedicated adversarial prompt injection test case, specifically designed to bypass guards and manipulate the LLM.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34831" y="204698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0599" y="2105422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Indirect Injection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70599" y="2462907"/>
            <a:ext cx="2959621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indirect injection case, where malicious instructions are embedded within an actual ingested document, was tested and mitigated to prevent subversion through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32048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243" y="4378920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Tool Gateway Enforcement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97243" y="4736405"/>
            <a:ext cx="10332977" cy="555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ToolGateway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implements strict per-agent tool allow-lists. Any attempt by an agent to call an out-of-scope tool immediately raises a </a:t>
            </a: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ToolNotAllowedError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preventing unauthorised access or actions.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5463877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multi-layered approach ensures the LLM's operational integrity and prevents any retrieved document from escalating its privileges.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28C97-D086-1690-79B2-D28F7283579C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 Control on Retrieval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22102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Robust access control is paramount to ensure sensitive policy information is only accessed by authorised personnel. Our system implements a fine-grained, role-based access policy at the retrieval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17418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6036" y="2235895"/>
            <a:ext cx="2906144" cy="2243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Authentication LayerUser authentication is handled via JWT (JSON Web Token), leveraging Djoser and SimpleJWT, providing a secure and scalable method for user verification.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355396" y="217418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9957" y="2235895"/>
            <a:ext cx="290624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Defined Roles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29957" y="2618680"/>
            <a:ext cx="290624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Two distinct roles are established: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ADJUSTER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MANAGER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each with specific retrieval privileges.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9416" y="217418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3977" y="2235895"/>
            <a:ext cx="290624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Domain-Level Policy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623977" y="2618680"/>
            <a:ext cx="2906243" cy="1998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policies are implemented at the domain level (</a:t>
            </a: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domain/policies/claim_access_policy.py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), using a framework-free rule set with a thin DRF permission class on top for enforcement.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4958556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6036" y="5020270"/>
            <a:ext cx="1029418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Role-Based Access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6036" y="5403056"/>
            <a:ext cx="1029418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ADJUSTER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strictly limited to retrieving information pertaining to their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own assigned claims only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A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MANAGER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conversely, has the privilege to retrieve information for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any claim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the system.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7605F4-A2A0-1553-3AA1-B9315B2B0134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Evaluation: Does It Actually Work?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18493"/>
            <a:ext cx="10868745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undergoes rigorous evaluation against a comprehensive 26-case </a:t>
            </a: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golden set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comprising 20 normal queries and 6 adversarial scenarios to test resilience.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Real-world recorded results demonstrate robust performance, with an </a:t>
            </a: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81.0% retrieval hit-rate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88.5% refusal correctness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Crucially, every single miss is meticulously analyzed and documented, ensuring continuous improvement and transparency rather than being hidden.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66801"/>
            <a:ext cx="10868745" cy="42572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F6EBD6-3680-4752-A49B-D3390D79BCF3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Recap and Assessment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 we conclude the theoretical overview, let's consolidate the key takeaways from this deep dive into production-grade RAG.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05943"/>
            <a:ext cx="3496877" cy="2652018"/>
          </a:xfrm>
          <a:prstGeom prst="roundRect">
            <a:avLst>
              <a:gd name="adj" fmla="val 2993"/>
            </a:avLst>
          </a:prstGeom>
          <a:solidFill>
            <a:srgbClr val="F9F9FF">
              <a:alpha val="95000"/>
            </a:srgbClr>
          </a:solidFill>
          <a:ln w="25399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252035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Specific Failure Points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2929037"/>
            <a:ext cx="306806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RAG in production isn't plagued by one monolithic "hallucination" problem, but rather a chain of real, specific failure points that require precise diagnosis and mitigation.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305943"/>
            <a:ext cx="3496877" cy="2652018"/>
          </a:xfrm>
          <a:prstGeom prst="roundRect">
            <a:avLst>
              <a:gd name="adj" fmla="val 2993"/>
            </a:avLst>
          </a:prstGeom>
          <a:solidFill>
            <a:srgbClr val="F9F9FF">
              <a:alpha val="95000"/>
            </a:srgbClr>
          </a:solidFill>
          <a:ln w="25399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1766" y="252035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Empirical Problem Solving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61766" y="2929037"/>
            <a:ext cx="306806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successful fix and improvement in this project stemmed from meticulous analysis of real system output, not from theoretical assumptions.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305943"/>
            <a:ext cx="3496877" cy="2652018"/>
          </a:xfrm>
          <a:prstGeom prst="roundRect">
            <a:avLst>
              <a:gd name="adj" fmla="val 2993"/>
            </a:avLst>
          </a:prstGeom>
          <a:solidFill>
            <a:srgbClr val="F9F9FF">
              <a:alpha val="95000"/>
            </a:srgbClr>
          </a:solidFill>
          <a:ln w="25399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650" y="252035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Next Steps: Lab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47650" y="2929037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Now, it's time to apply these insights. You will complete the lab tasks and tackle stretch challenges to build a deeper, practical understanding.</a:t>
            </a:r>
            <a:endParaRPr lang="en-US" sz="14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63CA09-E922-8388-F3D5-C80516E8BC96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400537" cy="287139"/>
          </a:xfrm>
          <a:prstGeom prst="roundRect">
            <a:avLst>
              <a:gd name="adj" fmla="val 22118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76461"/>
            <a:ext cx="17833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56466" y="519807"/>
            <a:ext cx="140400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67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69870" y="576461"/>
            <a:ext cx="17867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8825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Hands-On Lab 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61475" y="1756668"/>
            <a:ext cx="10868745" cy="245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Welcome to the practical lab session. Over the next few steps, you will interact directly with the system, performing key operations and confronting a real-world challenge.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commands and tools you will use today are authentic and reflect our actual environment; no simulated interfaces or invented commands will be used.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4D31B-B978-3D30-4C59-DC854B9808CC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5358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40102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Questions? Let's connect and continue the conversation!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5A123-DABD-753B-5304-7E0AE59B7EED}"/>
              </a:ext>
            </a:extLst>
          </p:cNvPr>
          <p:cNvSpPr/>
          <p:nvPr/>
        </p:nvSpPr>
        <p:spPr>
          <a:xfrm>
            <a:off x="10935729" y="6569675"/>
            <a:ext cx="1194486" cy="288324"/>
          </a:xfrm>
          <a:prstGeom prst="rect">
            <a:avLst/>
          </a:prstGeom>
          <a:solidFill>
            <a:srgbClr val="F8F8FF"/>
          </a:solidFill>
          <a:ln>
            <a:solidFill>
              <a:srgbClr val="F8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44</cp:revision>
  <dcterms:created xsi:type="dcterms:W3CDTF">2026-09-05T14:25:48Z</dcterms:created>
  <dcterms:modified xsi:type="dcterms:W3CDTF">2026-09-05T15:26:48Z</dcterms:modified>
</cp:coreProperties>
</file>